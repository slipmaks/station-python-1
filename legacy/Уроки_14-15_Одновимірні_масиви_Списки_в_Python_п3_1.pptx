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Урок 14. Одновимірні масиви. Списки" id="{ca803e3a-021c-f8dd-09b3-06ff2983edb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Урок 15. Уведення та виведення списків" id="{49ad37ce-c877-9773-ff3a-409ea77d3367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Презентація розрахована на два уроки за п. 3.1 підручника:
• Урок 14 (слайди 1–16): поняття одновимірного масиву, списки в Python, звернення до елементів, змінення та виведення списку, опрацювання в циклі.
• Урок 15 (слайди 17–29): уведення значень елементів списку з клавіатури (по одному та в одному рядку), len(), способи виведення, вправи з рубрики «Працюємо з комп’ютером».
Перед уроками 14–15 учні мають пройти вступний урок з Python (print, input, змінні, типи, for і range) — на ці знання спираються обидва уроки.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Повторення матеріалу вступного уроку з Python (5 хв). Очікувані відповіді:
1) 8 — змінна отримала нове значення.
2) int, float, str.
3) 0 1 2 3 (кожне з нового рядка): range(4) дає 4 числа, починаючи з 0.
4) 9 3.
Додатково — питання з рубрики підручника «Пригадайте» (с. 95): Чи траплялися вам упорядковані набори даних? Наведіть приклади (розклад уроків, список класу в журналі, таблиця чемпіонату).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Озвучити мету. Підводка: «Досі кожна змінна зберігала лише одне значення. А якщо значень сто?»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з підручника (с. 95). Ліворуч — «лобовий» підхід: 100 змінних з іменами a, b, c, …, cv і сума зі 100 доданків. Запитайте: скільки часу піде, щоб це набрати? Що робити, якщо учнів буде 101?
Праворуч — та сама сума для масиву: три рядки. Секрет у тому, що номер елемента a[i] — це змінна i, яка змінюється в циклі. Детально розберемо далі (слайд 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Означення — дослівно за підручником (с. 96), учні записують у зошит.
Наголосіть на словах «набір змінних»: кожен елемент масиву — це звичайна змінна, тільки її ім’я складається з імені масиву та номера: a[3] — «a з індексом 3».
«Одного типу»: усі елементи — числа (або всі — тексти). «Упорядкований за номерами»: у кожного елемента свій номер.
Приклади праворуч — з підручника. Попросіть учнів додати власні: оцінки класу за контрольну, кількість кроків за кожен день тижня, ціни товарів у кошику.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Таблиці 3.1 і 3.2 підручника (с. 96): маси учнів як елементи масиву a.
У математиці й у багатьох мовах програмування нумерацію починають з 1, а в Python — завжди з 0. Тому перший учень — a[0], сотий — a[99].
Запитання класу: який номер у 50-го учня? (49). Скільки елементів у масиві, якщо останній має номер 29? (30).
Нагадати: у Python дробові числа записують через крапку (62.4), а не через кому.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підручником (с. 98): у Python для масивів можна використовувати тип array або тип list (список). У 9 класі працюємо зі списками.
Важливо: хоча список дозволяє зберігати елементи різних типів, коли ми використовуємо його як одновимірний масив, усі елементи мають бути одного типу (за означенням масиву).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Приклад і таблиця 3.3 з підручника (с. 98). У списку 7 елементів з номерами від 0 до 6. Значення a[0] — 4, a[1] — -3.8 і т. д.
🖥 ДЕМОНСТРАЦІЯ: створіть список у середовищі IDLE, виведіть print(a), print(type(a)) → &lt;class 'list'&gt;.
Запитання: яке значення має a[3]? (3.5) Який номер має елемент зі значенням 5.1? (5) Який номер останнього елемента? (6).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підручником (с. 96, 98): номером елемента може бути конкретне ціле число, значення змінної або значення виразу — головне, щоб результат був цілим невід’ємним числом.
Саме можливість писати a[i] робить масиви такими потужними: змінюючи i в циклі, ми по черзі «проходимо» всі елементи.
Запитання: i = 2. Яке значення a[i]? (0) a[i+1]? (3.5) a[2*i]? (-4) a[i-3]? (Помилка за підручником — номер має бути невід’ємним.)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🖥 ДЕМОНСТРАЦІЯ. Команди присвоювання з підручника (с. 98): a[5] = 3, a[i] = 6, a[4] = a[4] + 3.
Розбір:
• print(a[0]) виводить значення одного елемента → 4;
• a[5] = 3 — нове значення елемента з номером 5 (було 5.1);
• a[4] = a[4] + 3 — беремо старе значення (-4), додаємо 3 → -1;
• a[i] = 6 при i = 6 — змінюємо останній елемент (було -2);
• print(a) виводить увесь список у квадратних дужках.
Елемент списку поводиться як звичайна змінна.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Аналог прикладу з підручника (с. 97), але для списку температур. Розберіть таблицю покроково разом з учнями: на кожному кроці i збільшується на 1, і до суми додається черговий елемент.
🖥 ДЕМОНСТРАЦІЯ: виконайте програму. Результат 2.8.
Зверніть увагу: за таким алгоритмом знаходять суму елементів будь-якого масиву — мас, температур, цін тощо. Змінюються лише дані та кількість повторень у range().
Додаткове питання: як знайти середню температуру? (suma /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з підручника (с. 99). 🖥 ДЕМОНСТРАЦІЯ: наберіть і виконайте програму.
Команда a[i] = a[i] ** 2 замінює кожен елемент його квадратом — старі значення втрачаються. Запитайте: як зберегти і сторони, і площі? (Відповідь на майбутнє: створити другий список.)
Якщо потрібен список з іншою кількістю елементів — доведеться змінювати і список, і число в range(8). На уроці 15 побачимо, як цього уникнути за допомогою len().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Покажіть помилки наживо й навчіть читати повідомлення: тип помилки підказує причину.
• IndexError — звертання до номера, якого в списку немає (найчастіше через нумерацію з 1).
• TypeError … not callable — круглі дужки означають виклик функції.
• SyntaxError — порушено правила запису; підказку «Perhaps you forgot a comma?» дають версії Python 3.10 і новіші.
• Індекс має бути цілим числом.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Кожне завдання — окремо для початкового списку a = [3, 9, 1, 7, 5]. Відповіді:
1) 9
2) 1
3) 5 — номер 2·2 = 4, a[4] = 5
4) 10
5) Помилка IndexError — елемента з номером 5 немає (номери 0…4)
6) 25 — сума всіх елементів.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Питання 1–3 — з рубрики підручника «Дайте відповіді на запитання» (с. 104), питання 6 — з рубрики «Обговоріть і зробіть висновки».
Відповіді:
1) Упорядкований за номерами набір змінних одного типу.
2) З імені масиву та номера (індексу) елемента у квадратних дужках.
3) Ціле число, значення змінної або виразу, що набувають цілого невід’ємного значення.
4) З нуля.
5) Командою присвоювання: a[5] = 3, a[4] = a[4] + 3.
6) Коротший і зрозуміліший код; той самий алгоритм працює для будь-якої кількості елементів; елементи зручно опрацьовувати в циклі.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Відповідь до д/з (завдання 1): для списку [2, -2, 3, 0.25, -4] фрагмент знаходить добуток елементів: dob = 12 (у Python виведе 12.0). Умова задачі, наприклад: «Знайти добуток елементів списку».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Другий урок з п. 3.1. Нові для учнів поняття: метод append, методи й функції split, map, list, len, виведення print(*a).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Відповіді:
1) -3.8
2) a[3] = 10
3) [20, 50, 10]
4) 12 (у Python — 12.0): фрагмент знаходить добуток елементів списку.
Додатково усно: що таке одновимірний масив? З якого числа починаються номери елементів?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для мотивації: у задачі про площі квадратів довжини сторін були записані прямо в тексті проєкту. Щоб порахувати для інших квадратів — треба редагувати програму. Сьогодні навчимося вводити дані під час виконання проєкту.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Спосіб 1 — уже знайомий з уроку 14. Сьогодні — способи 2 і 3 (с. 99–100 підручника).
Запитання: коли зручніший кожен спосіб? (1 — для перевірки програми на фіксованих даних; 2 — коли значень небагато або їх зручно вводити по черзі; 3 — коли значень багато.)
Для тих, хто хоче знати більше: підручник (с. 101) показує ще й уведення з файлу — можна дати як додаткове завдання.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Проєкт з підручника (с. 99) для 4 значень. 🖥 ДЕМОНСТРАЦІЯ: запустіть, уведіть числа, натискаючи Enter після кожного.
Метод append («додати в кінець») — єдиний спосіб додати новий елемент: команда a[0] = 60 для порожнього списку дасть помилку, бо елемента з номером 0 ще немає.
Якщо вводитимуться лише цілі числа, замість float() можна використати int() — тоді виведеться [60, 120, 130, 10].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Покрокова візуалізація роботи попереднього проєкту: на кожному кроці циклу append додає введене значення в кінець списку (виділено зеленим).
Питання: скільки елементів буде в списку після виконання циклу for i in range(8)? (8). Який номер матиме перший доданий елемент? (0).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Команда з підручника (с. 100). Розбирайте її «зсередини назовні» — у тому порядку, у якому вона виконується:
1) input() уводить рядок, наприклад «4 5.3 12»;
2) split() розрізає рядок на частини в місцях пропусків — виходить список текстів ['4', '5.3', '12'];
3) map(float, …) перетворює кожен текст на дійсне число;
4) list(…) створює з цих чисел список;
5) список присвоюється змінній a.
Цю команду учням достатньо вміти правильно записувати й використовувати; деталі map і split детальніше вивчатимуть у старших класах. Рекомендуйте записати її в зошит як «шаблон».
Важливо: значення вводимо через ПРОПУСК, а не через кому.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Повний проєкт з підручника (с. 100). 🖥 ДЕМОНСТРАЦІЯ: запустіть кілька разів, уводячи різну кількість чисел — 2, 4, 6. Програму не треба змінювати!
Порівняйте з уроком 14, де в range(8) кількість елементів була «зашита» в код.
print('Площі квадратів:', *a) виводить значення без дужок і ком — про це на наступному слайді.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списку a = [16.0, 28.09, 144.0].
• print(a) — список у квадратних дужках, через кому (с. 98).
• print(*a) — «розпакований» список: значення через пропуск, без дужок (с. 100). Зірочку * читаємо як «усі елементи списку окремо».
• Можна поєднувати з текстом: print('Площі:', *a).
• Цикл з print(a[i]) — кожне значення в окремому рядку.
Запитання: який спосіб обрали б для виведення результатів контрольної, щоб учитель / учителька легко прочитали?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Практична частина — рубрика «Працюємо з комп’ютером» (с. 102–103). Учні виконують три вправи послідовно й зберігають файли з іменами вправа 3.1-1, 3.1-2, 3.1-3.
Вхідні дані для всіх вправ: 60 120 130 10 40 150 50 55. Очікуваний результат: 70 130 140 20 50 160 60 65 (у вправі 3.1-2 через float — 70.0 130.0 …).
На слайді показано лише ключові рядки кожної вправи; повні тексти — у підручнику.
Запитання наприкінці: як змінити вправу 3.1-3, щоб вона працювала для будь-якої кількості товарів? (range(len(a))).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🖥 Покажіть кожну помилку наживо.
• Порожній список не має елементів, тому a[0] = 5 — помилка. Нові елементи додаємо методом append.
• input() завжди повертає текст: '5' + 10 → TypeError. Перетворюємо float() або int().
• split() ділить рядок лише за пропусками: «4,5,6» — це одна частина, яку не можна перетворити на число.
• map() без list() — не список, а «заготовка», тому print показує дивний текст &lt;map object …&gt;.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Питання 1–4 — з рубрики підручника «Дайте відповіді на запитання» (с. 104), питання 6 — з рубрики «Обговоріть і зробіть висновки».
Відповіді:
1) По одному (порожній список + append у циклі) або в одному рядку через пропуск (list(map(float, input().split()))).
2) print(a); print(*a); print(a[i]) у циклі.
3) len().
4) append.
5) print(a) — з дужками й комами, print(*a) — значення через пропуск.
6) Відкрите питання: курси валют, ціни, вклади; температура, опади, якість повітря; результати змагань, кількість кроків.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Підказка до д/з: новий вклад = старий · 1.2. Фрагмент: a = []; цикл з append для 10 значень; for i in range(10): a[i] = a[i] * 1.2; print(*a).
Для сильніших учнів — завдання 5 (с. 104–105): відсоток p уводиться з клавіатури, вивести прибуток (вклад · p / 100), уведення в одному рядку.
За бажанням — рубрика «Для тих, хто хоче знати більше» (с. 101): уведення й виведення через файли.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73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1888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Інформатика 9 · Розділ 3. Алгоритми та програми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73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548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AF4EE"/>
                </a:solidFill>
              </a:rPr>
              <a:t>ІНФОРМАТИКА · 9 КЛАС</a:t>
            </a:r>
            <a:endParaRPr lang="en-US" sz="13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1430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Одновимірні масиви.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Списки в Python</a:t>
            </a:r>
            <a:endParaRPr lang="en-US" sz="3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Уроки 14–15 · п. 3.1 · Розділ 3. Алгоритми та програми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 = ['P', 'y', 't', 'h', 'o', 'n']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4078" y="4233672"/>
            <a:ext cx="352044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4078" y="4233672"/>
            <a:ext cx="3520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106424" y="36576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06424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181862" y="4233672"/>
            <a:ext cx="352044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81862" y="4233672"/>
            <a:ext cx="3520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664208" y="36576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664208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739646" y="4233672"/>
            <a:ext cx="352044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739646" y="4233672"/>
            <a:ext cx="3520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221992" y="36576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221992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2297430" y="4233672"/>
            <a:ext cx="352044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297430" y="4233672"/>
            <a:ext cx="3520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779776" y="36576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779776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2855214" y="4233672"/>
            <a:ext cx="352044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855214" y="4233672"/>
            <a:ext cx="3520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337560" y="36576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33756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3412998" y="4233672"/>
            <a:ext cx="352044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412998" y="4233672"/>
            <a:ext cx="3520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Пригадаємо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70432"/>
            <a:ext cx="329184" cy="329184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704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2C"/>
                </a:solidFill>
              </a:rPr>
              <a:t>Що виведе програма?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755648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170432"/>
            <a:ext cx="329184" cy="329184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1704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2C"/>
                </a:solidFill>
              </a:rPr>
              <a:t>Якого типу ці величини?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92040" y="1627632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56632" y="1755648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9D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'Python'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999232"/>
            <a:ext cx="329184" cy="329184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29992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2C"/>
                </a:solidFill>
              </a:rPr>
              <a:t>Що виведе програма?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456432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3584448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0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0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283464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2999232"/>
            <a:ext cx="329184" cy="329184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29992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2C"/>
                </a:solidFill>
              </a:rPr>
              <a:t>Що виведе програма?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892040" y="3456432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56632" y="3584448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Урок 14: мета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280160"/>
            <a:ext cx="640080" cy="640080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" y="143377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280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Дізнаємося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48840"/>
            <a:ext cx="2194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302A"/>
                </a:solidFill>
              </a:rPr>
              <a:t>що таке одновимірний масив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302A"/>
                </a:solidFill>
              </a:rPr>
              <a:t>що таке елемент масиву, його номер (індекс) і значення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68980" y="105156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97580" y="1280160"/>
            <a:ext cx="640080" cy="640080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199" y="143377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29100" y="1280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Навчимося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497580" y="2148840"/>
            <a:ext cx="2194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302A"/>
                </a:solidFill>
              </a:rPr>
              <a:t>створювати список у Python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302A"/>
                </a:solidFill>
              </a:rPr>
              <a:t>звертатися до елементів і змінювати їх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302A"/>
                </a:solidFill>
              </a:rPr>
              <a:t>виводити список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302A"/>
                </a:solidFill>
              </a:rPr>
              <a:t>опрацьовувати елементи в циклі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080760" y="105156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09360" y="1280160"/>
            <a:ext cx="640080" cy="640080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979" y="143377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40880" y="1280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Зрозуміємо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148840"/>
            <a:ext cx="2194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302A"/>
                </a:solidFill>
              </a:rPr>
              <a:t>навіщо потрібні масиви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302A"/>
                </a:solidFill>
              </a:rPr>
              <a:t>чому в Python масиви реалізують списками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Задача: середня маса 100 учнів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✗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0058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</a:rPr>
              <a:t>Спосіб 1: 100 окремих змінних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47218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545336"/>
            <a:ext cx="37033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62.4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71.8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45643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0392B"/>
                </a:solidFill>
              </a:rPr>
              <a:t>100 доданків · а якщо учнів 300 або їх кількість невідома?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1005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0058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7D5A"/>
                </a:solidFill>
              </a:rPr>
              <a:t>Спосіб 2: один масив 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09160" y="141732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43800" y="147218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873752" y="1545336"/>
            <a:ext cx="3703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0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0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2697480"/>
            <a:ext cx="731520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9160" y="2697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62.4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95544" y="2697480"/>
            <a:ext cx="731520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95544" y="2697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81928" y="2697480"/>
            <a:ext cx="731520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81928" y="2697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71.8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068312" y="2697480"/>
            <a:ext cx="731520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68312" y="2697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854696" y="2697480"/>
            <a:ext cx="731520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54696" y="2697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709160" y="345643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F7D5A"/>
                </a:solidFill>
              </a:rPr>
              <a:t>3 рядки для будь-якої кількості учнів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4069080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2A"/>
                </a:solidFill>
              </a:rPr>
              <a:t>Багато однотипних значень зручно зберігати як </a:t>
            </a:r>
            <a:pPr indent="0" marL="0">
              <a:buNone/>
            </a:pPr>
            <a:r>
              <a:rPr lang="en-US" sz="1500" b="1" dirty="0">
                <a:solidFill>
                  <a:srgbClr val="1F5C42"/>
                </a:solidFill>
              </a:rPr>
              <a:t>одновимірний масив</a:t>
            </a:r>
            <a:pPr indent="0" marL="0">
              <a:buNone/>
            </a:pPr>
            <a:r>
              <a:rPr lang="en-US" sz="1500" dirty="0">
                <a:solidFill>
                  <a:srgbClr val="22302A"/>
                </a:solidFill>
              </a:rPr>
              <a:t> і опрацьовувати в циклі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таке одновимірний масив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1F5C42"/>
          </a:solidFill>
          <a:ln w="9525">
            <a:solidFill>
              <a:srgbClr val="1F5C4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0058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526"/>
                </a:solidFill>
              </a:rPr>
              <a:t>Одновимірний масив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 — упорядкований за номерами набір змінних одного типу.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42"/>
                </a:solidFill>
              </a:rPr>
              <a:t>Елемент масиву</a:t>
            </a:r>
            <a:pPr indent="0" marL="0">
              <a:buNone/>
            </a:pPr>
            <a:r>
              <a:rPr lang="en-US" sz="1500" dirty="0">
                <a:solidFill>
                  <a:srgbClr val="22302A"/>
                </a:solidFill>
              </a:rPr>
              <a:t> — кожна змінна, що входить до масиву. Кожен елемент має свій </a:t>
            </a:r>
            <a:pPr indent="0" marL="0">
              <a:buNone/>
            </a:pPr>
            <a:r>
              <a:rPr lang="en-US" sz="1500" b="1" dirty="0">
                <a:solidFill>
                  <a:srgbClr val="22302A"/>
                </a:solidFill>
              </a:rPr>
              <a:t>номер (індекс)</a:t>
            </a:r>
            <a:pPr indent="0" marL="0">
              <a:buNone/>
            </a:pPr>
            <a:r>
              <a:rPr lang="en-US" sz="1500" dirty="0">
                <a:solidFill>
                  <a:srgbClr val="22302A"/>
                </a:solidFill>
              </a:rPr>
              <a:t> і </a:t>
            </a:r>
            <a:pPr indent="0" marL="0">
              <a:buNone/>
            </a:pPr>
            <a:r>
              <a:rPr lang="en-US" sz="1500" b="1" dirty="0">
                <a:solidFill>
                  <a:srgbClr val="22302A"/>
                </a:solidFill>
              </a:rPr>
              <a:t>значення</a:t>
            </a:r>
            <a:pPr indent="0" marL="0">
              <a:buNone/>
            </a:pPr>
            <a:r>
              <a:rPr lang="en-US" sz="1500" dirty="0">
                <a:solidFill>
                  <a:srgbClr val="22302A"/>
                </a:solidFill>
              </a:rPr>
              <a:t>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56616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42"/>
                </a:solidFill>
              </a:rPr>
              <a:t>Ім’я елемента</a:t>
            </a:r>
            <a:pPr indent="0" marL="0">
              <a:buNone/>
            </a:pPr>
            <a:r>
              <a:rPr lang="en-US" sz="1500" dirty="0">
                <a:solidFill>
                  <a:srgbClr val="22302A"/>
                </a:solidFill>
              </a:rPr>
              <a:t> = ім’я масиву + індекс у квадратних дужках: </a:t>
            </a:r>
            <a:pPr indent="0" marL="0">
              <a:buNone/>
            </a:pPr>
            <a:r>
              <a:rPr lang="en-US" sz="1500" b="1" dirty="0">
                <a:solidFill>
                  <a:srgbClr val="1F5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a[3]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1005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7F75"/>
                </a:solidFill>
              </a:rPr>
              <a:t>Приклади масивів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349240" y="1417320"/>
            <a:ext cx="548640" cy="548640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0914" y="1548994"/>
            <a:ext cx="285293" cy="28529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035040" y="1417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парні натуральні числа: 2, 4, 6, 8, …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349240" y="2203704"/>
            <a:ext cx="548640" cy="548640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914" y="2335378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035040" y="22037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щоденні курси валют протягом тижня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349240" y="2990088"/>
            <a:ext cx="548640" cy="548640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914" y="3121762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035040" y="29900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середні температури за кожен день місяця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349240" y="3776472"/>
            <a:ext cx="548640" cy="548640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914" y="3908146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035040" y="37764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урожаї пшениці в Україні за 10 років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Нумерація елементів: у Python — з нуля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7F75"/>
                </a:solidFill>
              </a:rPr>
              <a:t>Звичайна нумерація (з 1)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011680" y="169164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3F5F4"/>
          </a:solidFill>
          <a:ln w="15875">
            <a:solidFill>
              <a:srgbClr val="6B7F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11680" y="16916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62.4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41732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F75"/>
                </a:solidFill>
              </a:rPr>
              <a:t>a[1]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69164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3F5F4"/>
          </a:solidFill>
          <a:ln w="15875">
            <a:solidFill>
              <a:srgbClr val="6B7F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6916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141732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F75"/>
                </a:solidFill>
              </a:rPr>
              <a:t>a[2]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69164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3F5F4"/>
          </a:solidFill>
          <a:ln w="15875">
            <a:solidFill>
              <a:srgbClr val="6B7F7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16916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71.8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41732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F75"/>
                </a:solidFill>
              </a:rPr>
              <a:t>a[3]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15000" y="169164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3F5F4"/>
          </a:solidFill>
          <a:ln w="15875">
            <a:solidFill>
              <a:srgbClr val="6B7F7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15000" y="16916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141732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F75"/>
                </a:solidFill>
              </a:rPr>
              <a:t>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169164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3F5F4"/>
          </a:solidFill>
          <a:ln w="15875">
            <a:solidFill>
              <a:srgbClr val="6B7F7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16916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141732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F75"/>
                </a:solidFill>
              </a:rPr>
              <a:t>a[100]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141732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F75"/>
                </a:solidFill>
              </a:rPr>
              <a:t>ім’я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1691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F75"/>
                </a:solidFill>
              </a:rPr>
              <a:t>значення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5A"/>
                </a:solidFill>
              </a:rPr>
              <a:t>У мові Python (з 0)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011680" y="320040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011680" y="32004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62.4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2011680" y="292608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F75"/>
                </a:solidFill>
              </a:rPr>
              <a:t>a[0]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320040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46120" y="32004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246120" y="292608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F75"/>
                </a:solidFill>
              </a:rPr>
              <a:t>a[1]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80560" y="320040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80560" y="32004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71.8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292608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F75"/>
                </a:solidFill>
              </a:rPr>
              <a:t>a[2]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15000" y="320040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715000" y="32004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715000" y="292608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F75"/>
                </a:solidFill>
              </a:rPr>
              <a:t>…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49440" y="320040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49440" y="32004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949440" y="292608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F75"/>
                </a:solidFill>
              </a:rPr>
              <a:t>a[99]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29260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2F7D5A"/>
                </a:solidFill>
              </a:rPr>
              <a:t>ім’я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3200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F7D5A"/>
                </a:solidFill>
              </a:rPr>
              <a:t>значення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39319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" y="3931920"/>
            <a:ext cx="7818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У Python номери елементів </a:t>
            </a:r>
            <a:pPr indent="0" marL="0">
              <a:buNone/>
            </a:pPr>
            <a:r>
              <a:rPr lang="en-US" sz="1400" b="1" dirty="0">
                <a:solidFill>
                  <a:srgbClr val="1F5C42"/>
                </a:solidFill>
              </a:rPr>
              <a:t>завжди починаються з 0</a:t>
            </a:r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: у масиві зі 100 елементів останній має номер 99. Дробову частину відокремлюємо крапкою: 62.4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Як створити масив у Python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188720"/>
            <a:ext cx="594360" cy="594360"/>
          </a:xfrm>
          <a:prstGeom prst="ellipse">
            <a:avLst/>
          </a:prstGeom>
          <a:solidFill>
            <a:srgbClr val="6B7F75"/>
          </a:solidFill>
          <a:ln w="12700">
            <a:solidFill>
              <a:srgbClr val="6B7F7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1331366"/>
            <a:ext cx="309067" cy="309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1887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Масив (array)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96596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2A"/>
                </a:solidFill>
              </a:rPr>
              <a:t>кількість елементів фіксована, не змінюється під час виконання проєкту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2A"/>
                </a:solidFill>
              </a:rPr>
              <a:t>усі елементи — лише одного типу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2A"/>
                </a:solidFill>
              </a:rPr>
              <a:t>опрацьовується дуже швидко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1005840"/>
            <a:ext cx="39776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25400">
            <a:solidFill>
              <a:srgbClr val="2F7D5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37760" y="1188720"/>
            <a:ext cx="594360" cy="594360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406" y="133136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1887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Список (list)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196596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2A"/>
                </a:solidFill>
              </a:rPr>
              <a:t>кількість елементів може збільшуватися й зменшуватися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2A"/>
                </a:solidFill>
              </a:rPr>
              <a:t>елементи можуть бути різних типів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2A"/>
                </a:solidFill>
              </a:rPr>
              <a:t>гнучкий і зручний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F5C42"/>
          </a:solidFill>
          <a:ln w="9525">
            <a:solidFill>
              <a:srgbClr val="1F5C4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5800" y="3794760"/>
            <a:ext cx="7818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У 9 класі одновимірні масиви створюємо й опрацьовуємо за допомогою </a:t>
            </a:r>
            <a:pPr indent="0" marL="0">
              <a:buNone/>
            </a:pPr>
            <a:r>
              <a:rPr lang="en-US" sz="1600" b="1" dirty="0">
                <a:solidFill>
                  <a:srgbClr val="E0A526"/>
                </a:solidFill>
              </a:rPr>
              <a:t>списків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Створення списку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088136"/>
            <a:ext cx="7955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8F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температури за тиждень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F75"/>
                </a:solidFill>
              </a:rPr>
              <a:t>ім’я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F75"/>
                </a:solidFill>
              </a:rPr>
              <a:t>значення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249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F75"/>
                </a:solidFill>
              </a:rPr>
              <a:t>індекс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63040" y="21488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63040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91640" y="272491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91640" y="27249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1874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F75"/>
                </a:solidFill>
              </a:rPr>
              <a:t>a[0]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21488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87168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-3.8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15768" y="272491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15768" y="27249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487168" y="1874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F75"/>
                </a:solidFill>
              </a:rPr>
              <a:t>a[1]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11296" y="21488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11296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39896" y="272491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39896" y="27249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511296" y="1874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F75"/>
                </a:solidFill>
              </a:rPr>
              <a:t>a[2]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35424" y="21488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35424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64024" y="272491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64024" y="27249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35424" y="1874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F75"/>
                </a:solidFill>
              </a:rPr>
              <a:t>a[3]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59552" y="21488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59552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88152" y="272491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88152" y="27249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559552" y="1874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F75"/>
                </a:solidFill>
              </a:rPr>
              <a:t>a[4]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0" y="21488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83680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812280" y="272491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12280" y="27249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0" y="1874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F75"/>
                </a:solidFill>
              </a:rPr>
              <a:t>a[5]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607808" y="21488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07808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836408" y="272491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836408" y="27249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607808" y="1874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F75"/>
                </a:solidFill>
              </a:rPr>
              <a:t>a[6]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324612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40080" y="3401568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0080" y="34015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3840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значення елементів записують у квадратних дужках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268980" y="324612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451860" y="3401568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451860" y="34015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, 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3451860" y="3840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значення розділяють комами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080760" y="324612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263640" y="3401568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263640" y="34015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6263640" y="3840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a = [] — порожній список, без елементів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Чим може бути номер (індекс) елемента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088136"/>
            <a:ext cx="7955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463040" y="16916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91640" y="222199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91640" y="22219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87168" y="16916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2F6690"/>
          </a:solidFill>
          <a:ln w="15875">
            <a:solidFill>
              <a:srgbClr val="2F66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87168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-3.8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15768" y="222199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15768" y="22219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11296" y="16916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11296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739896" y="222199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39896" y="22219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35424" y="16916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35424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64024" y="222199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64024" y="22219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59552" y="16916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59552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-4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788152" y="222199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788152" y="22219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16916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2F7D5A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812280" y="222199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12280" y="22219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07808" y="16916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07808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836408" y="222199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836408" y="22219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2697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40080" y="2770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7F75"/>
                </a:solidFill>
              </a:rPr>
              <a:t>ціле число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3063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a[5]  </a:t>
            </a:r>
            <a:pPr indent="0" marL="0">
              <a:buNone/>
            </a:pPr>
            <a:r>
              <a:rPr lang="en-US" sz="1700" dirty="0">
                <a:solidFill>
                  <a:srgbClr val="2F7D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5.1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68980" y="2697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3451860" y="2770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7F75"/>
                </a:solidFill>
              </a:rPr>
              <a:t>змінна з цілим значенням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3451860" y="3063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a[i]  </a:t>
            </a:r>
            <a:pPr indent="0" marL="0">
              <a:buNone/>
            </a:pPr>
            <a:r>
              <a:rPr lang="en-US" sz="1700" dirty="0">
                <a:solidFill>
                  <a:srgbClr val="2F7D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-3.8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345186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F75"/>
                </a:solidFill>
              </a:rPr>
              <a:t>якщо i = 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80760" y="2697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6263640" y="2770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7F75"/>
                </a:solidFill>
              </a:rPr>
              <a:t>вираз з цілим значенням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263640" y="3063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a[2*i+3]  </a:t>
            </a:r>
            <a:pPr indent="0" marL="0">
              <a:buNone/>
            </a:pPr>
            <a:r>
              <a:rPr lang="en-US" sz="1700" dirty="0">
                <a:solidFill>
                  <a:srgbClr val="2F7D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5.1</a:t>
            </a: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626364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F75"/>
                </a:solidFill>
              </a:rPr>
              <a:t>якщо i = 1: 2·1+3 = 5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4069080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85800" y="40690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Індекс — завжди </a:t>
            </a:r>
            <a:pPr indent="0" marL="0">
              <a:buNone/>
            </a:pPr>
            <a:r>
              <a:rPr lang="en-US" sz="1400" b="1" dirty="0">
                <a:solidFill>
                  <a:srgbClr val="1F5C42"/>
                </a:solidFill>
              </a:rPr>
              <a:t>ціле невід’ємне число</a:t>
            </a:r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. Змінна в індексі має отримати значення до звертання до елемента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Змінення та виведення значень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29000" y="10607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133856"/>
            <a:ext cx="38404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1F5F2"/>
          </a:solidFill>
          <a:ln w="9525">
            <a:solidFill>
              <a:srgbClr val="C9D8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31272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F75"/>
                </a:solidFill>
              </a:rPr>
              <a:t>Результат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337560"/>
            <a:ext cx="3840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[4, -3.8, 0, 3.5, -1, 3, 6]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7F75"/>
                </a:solidFill>
              </a:rPr>
              <a:t>До змін: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512064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32588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23130" y="1856232"/>
            <a:ext cx="358445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23130" y="1856232"/>
            <a:ext cx="3584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1325880"/>
            <a:ext cx="512064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94960" y="132588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-3.8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71770" y="1856232"/>
            <a:ext cx="358445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71770" y="1856232"/>
            <a:ext cx="3584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1325880"/>
            <a:ext cx="512064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0" y="132588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20410" y="1856232"/>
            <a:ext cx="358445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20410" y="1856232"/>
            <a:ext cx="3584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1325880"/>
            <a:ext cx="512064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132588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69050" y="1856232"/>
            <a:ext cx="358445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69050" y="1856232"/>
            <a:ext cx="3584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40880" y="1325880"/>
            <a:ext cx="512064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40880" y="132588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117690" y="1856232"/>
            <a:ext cx="358445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17690" y="1856232"/>
            <a:ext cx="3584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89520" y="1325880"/>
            <a:ext cx="512064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0" y="132588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666330" y="1856232"/>
            <a:ext cx="358445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66330" y="1856232"/>
            <a:ext cx="3584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38160" y="1325880"/>
            <a:ext cx="512064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38160" y="132588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214970" y="1856232"/>
            <a:ext cx="358445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14970" y="1856232"/>
            <a:ext cx="3584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84632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7F75"/>
                </a:solidFill>
              </a:rPr>
              <a:t>Після змін: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846320" y="2743200"/>
            <a:ext cx="512064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46320" y="274320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923130" y="3273552"/>
            <a:ext cx="358445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923130" y="3273552"/>
            <a:ext cx="3584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394960" y="2743200"/>
            <a:ext cx="512064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394960" y="274320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-3.8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471770" y="3273552"/>
            <a:ext cx="358445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71770" y="3273552"/>
            <a:ext cx="3584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943600" y="2743200"/>
            <a:ext cx="512064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943600" y="274320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020410" y="3273552"/>
            <a:ext cx="358445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020410" y="3273552"/>
            <a:ext cx="3584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92240" y="2743200"/>
            <a:ext cx="512064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92240" y="274320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569050" y="3273552"/>
            <a:ext cx="358445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569050" y="3273552"/>
            <a:ext cx="3584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040880" y="2743200"/>
            <a:ext cx="512064" cy="457200"/>
          </a:xfrm>
          <a:prstGeom prst="roundRect">
            <a:avLst>
              <a:gd name="adj" fmla="val 12000"/>
            </a:avLst>
          </a:prstGeom>
          <a:solidFill>
            <a:srgbClr val="2F7D5A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040880" y="274320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7117690" y="3273552"/>
            <a:ext cx="358445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117690" y="3273552"/>
            <a:ext cx="3584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589520" y="2743200"/>
            <a:ext cx="512064" cy="457200"/>
          </a:xfrm>
          <a:prstGeom prst="roundRect">
            <a:avLst>
              <a:gd name="adj" fmla="val 12000"/>
            </a:avLst>
          </a:prstGeom>
          <a:solidFill>
            <a:srgbClr val="2F7D5A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589520" y="274320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666330" y="3273552"/>
            <a:ext cx="358445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666330" y="3273552"/>
            <a:ext cx="3584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138160" y="2743200"/>
            <a:ext cx="512064" cy="457200"/>
          </a:xfrm>
          <a:prstGeom prst="roundRect">
            <a:avLst>
              <a:gd name="adj" fmla="val 12000"/>
            </a:avLst>
          </a:prstGeom>
          <a:solidFill>
            <a:srgbClr val="2F7D5A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138160" y="274320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8214970" y="3273552"/>
            <a:ext cx="358445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214970" y="3273552"/>
            <a:ext cx="3584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4846320" y="3547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F7D5A"/>
                </a:solidFill>
              </a:rPr>
              <a:t>змінено елементи з номерами 4, 5, 6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57200" y="4069080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85800" y="40690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</a:t>
            </a:r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 — увесь список,  </a:t>
            </a:r>
            <a:pPr indent="0" marL="0">
              <a:buNone/>
            </a:pPr>
            <a:r>
              <a:rPr lang="en-US" sz="1400" b="1" dirty="0">
                <a:solidFill>
                  <a:srgbClr val="1F5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print(a[0])</a:t>
            </a:r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 — один елемент,  </a:t>
            </a:r>
            <a:pPr indent="0" marL="0">
              <a:buNone/>
            </a:pPr>
            <a:r>
              <a:rPr lang="en-US" sz="1400" b="1" dirty="0">
                <a:solidFill>
                  <a:srgbClr val="1F5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a[5] = 3</a:t>
            </a:r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 — нове значення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Опрацювання елементів у циклі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29000" y="10607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13385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0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0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1F5F2"/>
          </a:solidFill>
          <a:ln w="9525">
            <a:solidFill>
              <a:srgbClr val="C9D8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670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F75"/>
                </a:solidFill>
              </a:rPr>
              <a:t>Результат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8803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2.8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4114800" cy="1161288"/>
          </a:xfrm>
          <a:prstGeom prst="roundRect">
            <a:avLst>
              <a:gd name="adj" fmla="val 6299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429000"/>
            <a:ext cx="37033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Номер елемента — змінна </a:t>
            </a:r>
            <a:pPr indent="0" marL="0">
              <a:buNone/>
            </a:pPr>
            <a:r>
              <a:rPr lang="en-US" sz="1400" b="1" dirty="0">
                <a:solidFill>
                  <a:srgbClr val="1F5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, яка змінюється в циклі. Тому один рядок </a:t>
            </a:r>
            <a:pPr indent="0" marL="0">
              <a:buNone/>
            </a:pPr>
            <a:r>
              <a:rPr lang="en-US" sz="1400" b="1" dirty="0">
                <a:solidFill>
                  <a:srgbClr val="1F5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 = suma + a[i]</a:t>
            </a:r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 опрацьовує всі елементи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005840"/>
          <a:ext cx="37490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a[i]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4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-3.8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-0.3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4.8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93776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F75"/>
                </a:solidFill>
              </a:rPr>
              <a:t>покрокове виконання циклу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Задача: площі квадратів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86200" y="101498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088136"/>
            <a:ext cx="42976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5.3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8.1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0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0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57800" y="96012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40680" y="96012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42"/>
                </a:solidFill>
              </a:rPr>
              <a:t>Задача. </a:t>
            </a:r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Елементами списку є довжини сторін 8 квадратів. Обчислити й вивести площі цих квадратів.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560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F75"/>
                </a:solidFill>
              </a:rPr>
              <a:t>Було: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80160" y="2560320"/>
            <a:ext cx="850392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256032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76756" y="309067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76756" y="30906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03704" y="2560320"/>
            <a:ext cx="850392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03704" y="256032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400300" y="309067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00300" y="30906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27248" y="2560320"/>
            <a:ext cx="850392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27248" y="256032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23844" y="309067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23844" y="30906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50792" y="2560320"/>
            <a:ext cx="850392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50792" y="256032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47388" y="309067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47388" y="30906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74336" y="2560320"/>
            <a:ext cx="850392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74336" y="256032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8.1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170932" y="309067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70932" y="30906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97880" y="2560320"/>
            <a:ext cx="850392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897880" y="256032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094476" y="309067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094476" y="30906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21424" y="2560320"/>
            <a:ext cx="850392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21424" y="256032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018020" y="309067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18020" y="30906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744968" y="2560320"/>
            <a:ext cx="850392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44968" y="256032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941564" y="309067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941564" y="30906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3520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5A"/>
                </a:solidFill>
              </a:rPr>
              <a:t>Стало: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280160" y="3520440"/>
            <a:ext cx="8503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280160" y="352044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203704" y="3520440"/>
            <a:ext cx="8503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203704" y="352044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28.09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127248" y="3520440"/>
            <a:ext cx="8503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127248" y="352044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144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050792" y="3520440"/>
            <a:ext cx="8503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050792" y="352044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974336" y="3520440"/>
            <a:ext cx="8503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974336" y="352044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65.61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897880" y="3520440"/>
            <a:ext cx="8503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897880" y="352044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225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821424" y="3520440"/>
            <a:ext cx="8503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821424" y="352044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744968" y="3520440"/>
            <a:ext cx="8503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744968" y="352044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196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→ </a:t>
            </a:r>
            <a:pPr indent="0" marL="0">
              <a:buNone/>
            </a:pPr>
            <a:r>
              <a:rPr lang="en-US" sz="1300" b="1" dirty="0">
                <a:solidFill>
                  <a:srgbClr val="17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[16, 28.09, 144, 9, 65.61, 225, 4, 196]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Типові помилки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24712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695" y="1199327"/>
            <a:ext cx="161666" cy="1616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12471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</a:rPr>
              <a:t>Нумерація з 1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517904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" y="16459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1031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IndexError: list index out of range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3591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5A"/>
                </a:solidFill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F7D5A"/>
                </a:solidFill>
              </a:rPr>
              <a:t>останній елемент — a[2]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09160" y="100584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124712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655" y="1199327"/>
            <a:ext cx="161666" cy="16166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03520" y="112471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</a:rPr>
              <a:t>Круглі дужки замість квадратних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892040" y="1517904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56632" y="16459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892040" y="21031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'list' object is not callable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4892040" y="23591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5A"/>
                </a:solidFill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F7D5A"/>
                </a:solidFill>
              </a:rPr>
              <a:t>print(a[0])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57200" y="283464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2953512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95" y="3028127"/>
            <a:ext cx="161666" cy="16166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51560" y="295351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</a:rPr>
              <a:t>Пропущені коми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640080" y="3346704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04672" y="34747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640080" y="39319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SyntaxError: … Perhaps you forgot a comma?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640080" y="4187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5A"/>
                </a:solidFill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F7D5A"/>
                </a:solidFill>
              </a:rPr>
              <a:t>a = [5, 8, 3]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4709160" y="283464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892040" y="2953512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6655" y="3028127"/>
            <a:ext cx="161666" cy="161666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5303520" y="295351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</a:rPr>
              <a:t>Дробовий індекс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4892040" y="3346704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056632" y="34747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4892040" y="39319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list indices must be integers…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4892040" y="4187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5A"/>
                </a:solidFill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F7D5A"/>
                </a:solidFill>
              </a:rPr>
              <a:t>індекс — ціле число: a[1]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виведе програма?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088136"/>
            <a:ext cx="7955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828800"/>
            <a:ext cx="329184" cy="329184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31720" y="182880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31720" y="1828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2A"/>
                </a:solidFill>
              </a:rPr>
              <a:t>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194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print(a[1])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6898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33572" y="1828800"/>
            <a:ext cx="329184" cy="329184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33572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43500" y="182880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43500" y="1828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2A"/>
                </a:solidFill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97580" y="2194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2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7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print(a[i])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076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45352" y="1828800"/>
            <a:ext cx="329184" cy="329184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45352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55280" y="182880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0" y="1828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2A"/>
                </a:solidFill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2194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2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7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print(a[2*i])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" y="3337560"/>
            <a:ext cx="329184" cy="329184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3337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331720" y="333756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331720" y="33375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2A"/>
                </a:solidFill>
              </a:rPr>
              <a:t>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3703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a[0] = a[4] * 2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7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print(a[0])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268980" y="32004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33572" y="3337560"/>
            <a:ext cx="329184" cy="329184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33572" y="3337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143500" y="333756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43500" y="33375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2A"/>
                </a:solidFill>
              </a:rPr>
              <a:t>?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497580" y="3703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print(a[5])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080760" y="32004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45352" y="3337560"/>
            <a:ext cx="329184" cy="329184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45352" y="3337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955280" y="333756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955280" y="33375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2A"/>
                </a:solidFill>
              </a:rPr>
              <a:t>?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309360" y="3703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0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range(5):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s + a[i]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Перевір себе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48740"/>
            <a:ext cx="365760" cy="365760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487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0058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2A"/>
                </a:solidFill>
              </a:rPr>
              <a:t>Що таке одновимірний масив?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92040" y="1348740"/>
            <a:ext cx="365760" cy="365760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3487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0058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2A"/>
                </a:solidFill>
              </a:rPr>
              <a:t>Із чого складається ім’я елемента одновимірного масиву?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555748"/>
            <a:ext cx="365760" cy="365760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5557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21284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2A"/>
                </a:solidFill>
              </a:rPr>
              <a:t>Що може використовуватися як номер елемента масиву?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09160" y="2212848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2555748"/>
            <a:ext cx="365760" cy="365760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25557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221284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2A"/>
                </a:solidFill>
              </a:rPr>
              <a:t>З якого числа починаються номери елементів списку в Python?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419856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762756"/>
            <a:ext cx="365760" cy="365760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7627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419856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2A"/>
                </a:solidFill>
              </a:rPr>
              <a:t>Як змінити значення елемента списку? Наведіть приклад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09160" y="3419856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3762756"/>
            <a:ext cx="365760" cy="365760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92040" y="37627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3419856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2A"/>
                </a:solidFill>
              </a:rPr>
              <a:t>Які переваги має масив перед окремими змінними?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Урок 14: підсумок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55" y="1196035"/>
            <a:ext cx="213970" cy="2139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0515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Одновимірний масив — упорядкований за номерами набір змінних одного типу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411480" cy="411480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" y="2064715"/>
            <a:ext cx="213970" cy="21397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9202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У Python масиви створюємо списками: a = [4, -3.8, 0]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57200" y="2834640"/>
            <a:ext cx="411480" cy="411480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" y="2933395"/>
            <a:ext cx="213970" cy="21397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7889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Номери елементів — з 0; номер може бути числом, змінною, виразом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457200" y="3703320"/>
            <a:ext cx="411480" cy="411480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55" y="3802075"/>
            <a:ext cx="213970" cy="21397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36576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Цикл for i in range(n) опрацьовує всі елементи a[i]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4846320" y="1051560"/>
            <a:ext cx="3840480" cy="2331720"/>
          </a:xfrm>
          <a:prstGeom prst="roundRect">
            <a:avLst>
              <a:gd name="adj" fmla="val 3137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5029200" y="1188720"/>
            <a:ext cx="411480" cy="411480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7955" y="1287475"/>
            <a:ext cx="213970" cy="21397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577840" y="1188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Домашнє завдання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5029200" y="173736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2A"/>
                </a:solidFill>
              </a:rPr>
              <a:t>Опрацювати п. 3.1, с. 95–99 (до введення з клавіатури)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2A"/>
                </a:solidFill>
              </a:rPr>
              <a:t>Виконати в зошиті завдання 1 рубрики «Виконайте завдання» (с. 104)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846320" y="35661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E0A526"/>
          </a:solidFill>
          <a:ln w="9525">
            <a:solidFill>
              <a:srgbClr val="E0A526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21" name="Text 14"/>
          <p:cNvSpPr txBox="1"/>
          <p:nvPr/>
        </p:nvSpPr>
        <p:spPr>
          <a:xfrm>
            <a:off x="5029200" y="35661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2A"/>
                </a:solidFill>
              </a:rPr>
              <a:t>Наступний урок (15)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Уведення значень елементів списку з клавіатури та виведення списків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548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AF4EE"/>
                </a:solidFill>
              </a:rPr>
              <a:t>ІНФОРМАТИКА · 9 КЛАС</a:t>
            </a:r>
            <a:endParaRPr lang="en-US" sz="13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1430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Уведення та виведення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значень елементів списку</a:t>
            </a:r>
            <a:endParaRPr lang="en-US" sz="3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15 · п. 3.1 · Розділ 3. Алгоритми та програми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list(map(float, input().split()))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a.append(x)      print(*a)      len(a)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Пригадаємо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70432"/>
            <a:ext cx="329184" cy="329184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704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2C"/>
                </a:solidFill>
              </a:rPr>
              <a:t>Яке значення a[1]?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755648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170432"/>
            <a:ext cx="329184" cy="329184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1704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2C"/>
                </a:solidFill>
              </a:rPr>
              <a:t>Як змінити останній елемент на 10?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92040" y="1627632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56632" y="1755648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8F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999232"/>
            <a:ext cx="329184" cy="329184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29992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2C"/>
                </a:solidFill>
              </a:rPr>
              <a:t>Що виведе програма?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456432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3584448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0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0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83464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2999232"/>
            <a:ext cx="329184" cy="329184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29992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2C"/>
                </a:solidFill>
              </a:rPr>
              <a:t>Перевірка д/з: значення dob?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892040" y="3456432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56632" y="3584448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0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0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Урок 15: мета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280160"/>
            <a:ext cx="640080" cy="640080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" y="143377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280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Навчимося вводити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48840"/>
            <a:ext cx="2194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302A"/>
                </a:solidFill>
              </a:rPr>
              <a:t>значення елементів по одному (метод append)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302A"/>
                </a:solidFill>
              </a:rPr>
              <a:t>усі значення в одному рядку через пропуск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68980" y="105156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97580" y="1280160"/>
            <a:ext cx="640080" cy="640080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199" y="143377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29100" y="1280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Навчимося виводити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497580" y="2148840"/>
            <a:ext cx="2194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302A"/>
                </a:solidFill>
              </a:rPr>
              <a:t>список у квадратних дужках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302A"/>
                </a:solidFill>
              </a:rPr>
              <a:t>значення через пропуск: print(*a)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302A"/>
                </a:solidFill>
              </a:rPr>
              <a:t>по одному елементу в рядку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080760" y="105156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09360" y="1280160"/>
            <a:ext cx="640080" cy="640080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979" y="143377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40880" y="1280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Дізнаємося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148840"/>
            <a:ext cx="2194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302A"/>
                </a:solidFill>
              </a:rPr>
              <a:t>як визначити кількість елементів функцією len()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302A"/>
                </a:solidFill>
              </a:rPr>
              <a:t>як написати проєкт для списку будь-якої довжини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способи задати значення елементів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43000"/>
            <a:ext cx="329184" cy="329184"/>
          </a:xfrm>
          <a:prstGeom prst="ellipse">
            <a:avLst/>
          </a:prstGeom>
          <a:solidFill>
            <a:srgbClr val="6B7F75"/>
          </a:solidFill>
          <a:ln w="12700">
            <a:solidFill>
              <a:srgbClr val="6B7F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17320" y="1280160"/>
            <a:ext cx="685800" cy="685800"/>
          </a:xfrm>
          <a:prstGeom prst="ellipse">
            <a:avLst/>
          </a:prstGeom>
          <a:solidFill>
            <a:srgbClr val="6B7F75"/>
          </a:solidFill>
          <a:ln w="12700">
            <a:solidFill>
              <a:srgbClr val="6B7F7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1444752"/>
            <a:ext cx="356616" cy="35661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103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A2C"/>
                </a:solidFill>
              </a:rPr>
              <a:t>У тексті проєкту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78892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" y="291693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383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2A"/>
                </a:solidFill>
              </a:rPr>
              <a:t>значення відомі заздалегідь; щоб змінити — редагуємо програму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68980" y="10058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9050">
            <a:solidFill>
              <a:srgbClr val="2F7D5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51860" y="1143000"/>
            <a:ext cx="329184" cy="329184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51860" y="1143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29100" y="1280160"/>
            <a:ext cx="685800" cy="685800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692" y="1444752"/>
            <a:ext cx="356616" cy="35661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451860" y="2103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A2C"/>
                </a:solidFill>
              </a:rPr>
              <a:t>З клавіатури по одному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3451860" y="278892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616452" y="291693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3451860" y="3383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2A"/>
                </a:solidFill>
              </a:rPr>
              <a:t>порожній список + додавання значень у циклі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080760" y="10058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9050">
            <a:solidFill>
              <a:srgbClr val="2F7D5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63640" y="1143000"/>
            <a:ext cx="329184" cy="329184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263640" y="1143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7040880" y="1280160"/>
            <a:ext cx="685800" cy="685800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1444752"/>
            <a:ext cx="356616" cy="35661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263640" y="2103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A2C"/>
                </a:solidFill>
              </a:rPr>
              <a:t>З клавіатури в одному рядку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6263640" y="278892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428232" y="291693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6263640" y="3383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2A"/>
                </a:solidFill>
              </a:rPr>
              <a:t>усі значення одразу через пропуск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Уведення по одному: метод append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846320" cy="1600200"/>
          </a:xfrm>
          <a:prstGeom prst="roundRect">
            <a:avLst>
              <a:gd name="adj" fmla="val 4571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60520" y="10607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133856"/>
            <a:ext cx="45720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0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0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9D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'Уведіть число &gt; '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4846320" cy="1325880"/>
          </a:xfrm>
          <a:prstGeom prst="roundRect">
            <a:avLst>
              <a:gd name="adj" fmla="val 5517"/>
            </a:avLst>
          </a:prstGeom>
          <a:solidFill>
            <a:srgbClr val="F1F5F2"/>
          </a:solidFill>
          <a:ln w="9525">
            <a:solidFill>
              <a:srgbClr val="C9D8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807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F75"/>
                </a:solidFill>
              </a:rPr>
              <a:t>Вікно виконання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017520"/>
            <a:ext cx="45720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Уведіть число &gt; 60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Уведіть число &gt; 120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Уведіть число &gt; 130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Уведіть число &gt;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[60.0, 120.0, 130.0, 10.0]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32120" y="1005840"/>
            <a:ext cx="31546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0" y="1115568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11155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1490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</a:rPr>
              <a:t>створити порожній список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32120" y="2029968"/>
            <a:ext cx="31546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0" y="2139696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0" y="213969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float(input(…))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</a:rPr>
              <a:t>увести значення й перетворити на число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32120" y="3054096"/>
            <a:ext cx="31546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0" y="3163824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0" y="316382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a.append(x)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35387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</a:rPr>
              <a:t>додати x у кінець списку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8229600" cy="429768"/>
          </a:xfrm>
          <a:prstGeom prst="roundRect">
            <a:avLst>
              <a:gd name="adj" fmla="val 17021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160520"/>
            <a:ext cx="7818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float()</a:t>
            </a:r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 перетворює введений текст на число, тому 60 виводиться як 60.0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Як «росте» список під час уведення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6B7F75"/>
          </a:solidFill>
          <a:ln w="12700">
            <a:solidFill>
              <a:srgbClr val="6B7F7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старт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00584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042416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B7F75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160520" y="100584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F75"/>
                </a:solidFill>
              </a:rPr>
              <a:t>порожній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105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71907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введено 60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1755648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2F7D5A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17556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60.0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5237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43230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введено 120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0" y="246888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00400" y="2468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60.0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96512" y="246888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2F7D5A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96512" y="2468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120.0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236976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2369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314553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введено 130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0" y="3182112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00400" y="31821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60.0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096512" y="3182112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96512" y="31821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120.0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92624" y="3182112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2F7D5A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92624" y="31821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130.0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95020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9502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508760" y="385876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введено 10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00400" y="3895344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00400" y="38953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60.0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096512" y="3895344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096512" y="38953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120.0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992624" y="3895344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92624" y="38953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130.0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888736" y="3895344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2F7D5A"/>
          </a:solidFill>
          <a:ln w="15875">
            <a:solidFill>
              <a:srgbClr val="2F7D5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888736" y="38953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3200400" y="4572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F7D5A"/>
                </a:solidFill>
              </a:rPr>
              <a:t>новий елемент завжди додається в кінець списку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Уведення в одному рядку через пропуск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088136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A9D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'Сторони квадратів &gt; '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8288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892808"/>
            <a:ext cx="310896" cy="310896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331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input()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77063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</a:rPr>
              <a:t>уводить рядок тексту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3429000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'4 5.3 12'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2697480"/>
            <a:ext cx="274320" cy="310896"/>
          </a:xfrm>
          <a:prstGeom prst="rightArrow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87752" y="1783080"/>
            <a:ext cx="18288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24912" y="1892808"/>
            <a:ext cx="310896" cy="310896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24912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24912" y="233172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24912" y="2331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.split()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724912" y="277063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</a:rPr>
              <a:t>ділить його на частини в місцях пропусків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79192" y="342900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97480" y="3429000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['4', '5.3', '12']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16552" y="2697480"/>
            <a:ext cx="274320" cy="310896"/>
          </a:xfrm>
          <a:prstGeom prst="rightArrow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18304" y="1783080"/>
            <a:ext cx="18288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55464" y="1892808"/>
            <a:ext cx="310896" cy="310896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55464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55464" y="233172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55464" y="2331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map(float, …)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855464" y="277063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</a:rPr>
              <a:t>перетворює кожну частину на число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9744" y="342900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28032" y="3429000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4.0  5.3  12.0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47104" y="2697480"/>
            <a:ext cx="274320" cy="310896"/>
          </a:xfrm>
          <a:prstGeom prst="rightArrow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48856" y="1783080"/>
            <a:ext cx="18288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86016" y="1892808"/>
            <a:ext cx="310896" cy="310896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8601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986016" y="233172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86016" y="2331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list(…)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986016" y="277063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</a:rPr>
              <a:t>створює список чисел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40296" y="342900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58584" y="3429000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[4.0, 5.3, 12.0]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11480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" y="4114800"/>
            <a:ext cx="781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Нарешті список присвоюється змінній </a:t>
            </a:r>
            <a:pPr indent="0" marL="0">
              <a:buNone/>
            </a:pPr>
            <a:r>
              <a:rPr lang="en-US" sz="1400" b="1" dirty="0">
                <a:solidFill>
                  <a:srgbClr val="1F5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. Для цілих чисел замість float пишемо int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Функція len() у повному проєкті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43800" y="101498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088136"/>
            <a:ext cx="79552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A9D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'Сторони квадратів &gt; '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0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0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A9D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'Площі квадратів:'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1F5F2"/>
          </a:solidFill>
          <a:ln w="9525">
            <a:solidFill>
              <a:srgbClr val="C9D8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670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F75"/>
                </a:solidFill>
              </a:rPr>
              <a:t>Вікно виконання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880360"/>
            <a:ext cx="48463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Сторони квадратів &gt; 4 5.3 12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Площі квадратів: 16.0 28.09 144.0 9.0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06440" y="2606040"/>
            <a:ext cx="2880360" cy="1965960"/>
          </a:xfrm>
          <a:prstGeom prst="roundRect">
            <a:avLst>
              <a:gd name="adj" fmla="val 3721"/>
            </a:avLst>
          </a:prstGeom>
          <a:solidFill>
            <a:srgbClr val="1F5C42"/>
          </a:solidFill>
          <a:ln w="9525">
            <a:solidFill>
              <a:srgbClr val="1F5C4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89320" y="2606040"/>
            <a:ext cx="2560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кількість елементів списку (англ. length — довжина)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5120640" cy="978408"/>
          </a:xfrm>
          <a:prstGeom prst="roundRect">
            <a:avLst>
              <a:gd name="adj" fmla="val 7477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611880"/>
            <a:ext cx="47091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range(n)</a:t>
            </a:r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 з n = len(a) перебирає всі номери 0 … n − 1, тому проєкт працює для будь-якої кількості введених чисел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Способи виведення списку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12648"/>
          </a:xfrm>
          <a:prstGeom prst="roundRect">
            <a:avLst>
              <a:gd name="adj" fmla="val 11940"/>
            </a:avLst>
          </a:prstGeom>
          <a:solidFill>
            <a:srgbClr val="F7FAF8"/>
          </a:solidFill>
          <a:ln w="9525">
            <a:solidFill>
              <a:srgbClr val="D5E3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05840"/>
            <a:ext cx="2011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2C"/>
                </a:solidFill>
              </a:rPr>
              <a:t>Увесь список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697480" y="1078992"/>
            <a:ext cx="3108960" cy="466344"/>
          </a:xfrm>
          <a:prstGeom prst="roundRect">
            <a:avLst>
              <a:gd name="adj" fmla="val 15686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1207008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005840"/>
            <a:ext cx="320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526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078992"/>
            <a:ext cx="2331720" cy="466344"/>
          </a:xfrm>
          <a:prstGeom prst="roundRect">
            <a:avLst>
              <a:gd name="adj" fmla="val 11765"/>
            </a:avLst>
          </a:prstGeom>
          <a:solidFill>
            <a:srgbClr val="F1F5F2"/>
          </a:solidFill>
          <a:ln w="12700">
            <a:solidFill>
              <a:srgbClr val="C9D8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1078992"/>
            <a:ext cx="2148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[16.0, 28.09, 144.0]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822960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783080"/>
            <a:ext cx="2011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2C"/>
                </a:solidFill>
              </a:rPr>
              <a:t>Через пропуск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697480" y="1856232"/>
            <a:ext cx="3108960" cy="466344"/>
          </a:xfrm>
          <a:prstGeom prst="roundRect">
            <a:avLst>
              <a:gd name="adj" fmla="val 15686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62072" y="1984248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1783080"/>
            <a:ext cx="320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526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17920" y="1856232"/>
            <a:ext cx="2331720" cy="466344"/>
          </a:xfrm>
          <a:prstGeom prst="roundRect">
            <a:avLst>
              <a:gd name="adj" fmla="val 11765"/>
            </a:avLst>
          </a:prstGeom>
          <a:solidFill>
            <a:srgbClr val="F1F5F2"/>
          </a:solidFill>
          <a:ln w="12700">
            <a:solidFill>
              <a:srgbClr val="C9D8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856232"/>
            <a:ext cx="2148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16.0 28.09 144.0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8229600" cy="612648"/>
          </a:xfrm>
          <a:prstGeom prst="roundRect">
            <a:avLst>
              <a:gd name="adj" fmla="val 11940"/>
            </a:avLst>
          </a:prstGeom>
          <a:solidFill>
            <a:srgbClr val="F7FAF8"/>
          </a:solidFill>
          <a:ln w="9525">
            <a:solidFill>
              <a:srgbClr val="D5E3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560320"/>
            <a:ext cx="2011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2C"/>
                </a:solidFill>
              </a:rPr>
              <a:t>З поясненням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697480" y="2633472"/>
            <a:ext cx="3108960" cy="466344"/>
          </a:xfrm>
          <a:prstGeom prst="roundRect">
            <a:avLst>
              <a:gd name="adj" fmla="val 15686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62072" y="2761488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9D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'Площі:'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852160" y="2560320"/>
            <a:ext cx="320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526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17920" y="2633472"/>
            <a:ext cx="2331720" cy="466344"/>
          </a:xfrm>
          <a:prstGeom prst="roundRect">
            <a:avLst>
              <a:gd name="adj" fmla="val 11765"/>
            </a:avLst>
          </a:prstGeom>
          <a:solidFill>
            <a:srgbClr val="F1F5F2"/>
          </a:solidFill>
          <a:ln w="12700">
            <a:solidFill>
              <a:srgbClr val="C9D8C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2633472"/>
            <a:ext cx="2148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Площі: 16.0 28.09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144.0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337560"/>
            <a:ext cx="8229600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337560"/>
            <a:ext cx="20116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2C"/>
                </a:solidFill>
              </a:rPr>
              <a:t>По одному в рядку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697480" y="3410712"/>
            <a:ext cx="3108960" cy="1014984"/>
          </a:xfrm>
          <a:prstGeom prst="roundRect">
            <a:avLst>
              <a:gd name="adj" fmla="val 7207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862072" y="3538728"/>
            <a:ext cx="2834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0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0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852160" y="3337560"/>
            <a:ext cx="3200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526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217920" y="3410712"/>
            <a:ext cx="2331720" cy="1014984"/>
          </a:xfrm>
          <a:prstGeom prst="roundRect">
            <a:avLst>
              <a:gd name="adj" fmla="val 5405"/>
            </a:avLst>
          </a:prstGeom>
          <a:solidFill>
            <a:srgbClr val="F1F5F2"/>
          </a:solidFill>
          <a:ln w="12700">
            <a:solidFill>
              <a:srgbClr val="C9D8C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55080" y="3410712"/>
            <a:ext cx="2148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28.09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144.0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Працюємо з комп’ютером: ціни +10 грн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09728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972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3.1-1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0972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A2C"/>
                </a:solidFill>
              </a:rPr>
              <a:t>Значення в тексті проєкту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435608"/>
            <a:ext cx="5212080" cy="384048"/>
          </a:xfrm>
          <a:prstGeom prst="roundRect">
            <a:avLst>
              <a:gd name="adj" fmla="val 19048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156362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10312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1031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3.1-2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1031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A2C"/>
                </a:solidFill>
              </a:rPr>
              <a:t>Уведення по одному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2441448"/>
            <a:ext cx="5212080" cy="384048"/>
          </a:xfrm>
          <a:prstGeom prst="roundRect">
            <a:avLst>
              <a:gd name="adj" fmla="val 19048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56946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9D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'Уведіть значення &gt; 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10896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1089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3.1-3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1089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A2C"/>
                </a:solidFill>
              </a:rPr>
              <a:t>Уведення в одному рядку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3447288"/>
            <a:ext cx="5212080" cy="384048"/>
          </a:xfrm>
          <a:prstGeom prst="roundRect">
            <a:avLst>
              <a:gd name="adj" fmla="val 19048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357530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9D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'8 цілих чисел &gt; 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5486400" cy="521208"/>
          </a:xfrm>
          <a:prstGeom prst="roundRect">
            <a:avLst>
              <a:gd name="adj" fmla="val 14035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412394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спільне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4197096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0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0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1005840"/>
            <a:ext cx="2468880" cy="3584448"/>
          </a:xfrm>
          <a:prstGeom prst="roundRect">
            <a:avLst>
              <a:gd name="adj" fmla="val 2963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1097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5C42"/>
                </a:solidFill>
              </a:rPr>
              <a:t>Задача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141732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</a:rPr>
              <a:t>У списку — ціни 8 товарів у гривнях. Через місяць кожна зросла на 10 грн. Утворіть список нових цін.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F75"/>
                </a:solidFill>
              </a:rPr>
              <a:t>Очікуваний результат: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3291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70 130 140 20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7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50 160 60 65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Типові помилки під час уведення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24712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695" y="1199327"/>
            <a:ext cx="161666" cy="1616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12471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</a:rPr>
              <a:t>Присвоєння в порожній список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517904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" y="16459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1031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IndexError: list assignment index out of range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3591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5A"/>
                </a:solidFill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F7D5A"/>
                </a:solidFill>
              </a:rPr>
              <a:t>a.append(5)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09160" y="100584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124712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655" y="1199327"/>
            <a:ext cx="161666" cy="16166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03520" y="112471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</a:rPr>
              <a:t>Забули перетворити на число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892040" y="1517904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56632" y="16459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892040" y="21031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can only concatenate str…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4892040" y="23591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5A"/>
                </a:solidFill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F7D5A"/>
                </a:solidFill>
              </a:rPr>
              <a:t>x = float(input())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57200" y="283464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2953512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95" y="3028127"/>
            <a:ext cx="161666" cy="16166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51560" y="295351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</a:rPr>
              <a:t>Числа через кому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640080" y="3346704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04672" y="34747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уведено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C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640080" y="39319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ValueError: could not convert string to float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640080" y="4187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5A"/>
                </a:solidFill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F7D5A"/>
                </a:solidFill>
              </a:rPr>
              <a:t>уводимо через пропуск: 4 5 6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4709160" y="283464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892040" y="2953512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6655" y="3028127"/>
            <a:ext cx="161666" cy="161666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5303520" y="295351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</a:rPr>
              <a:t>Забули list()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4892040" y="3346704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1E2923"/>
          </a:solidFill>
          <a:ln w="9525">
            <a:solidFill>
              <a:srgbClr val="1E292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056632" y="34747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3D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4892040" y="39319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&lt;map object at 0x…&gt; — це ще не список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4892040" y="4187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5A"/>
                </a:solidFill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F7D5A"/>
                </a:solidFill>
              </a:rPr>
              <a:t>a = list(map(...))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Перевір себе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48740"/>
            <a:ext cx="365760" cy="365760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487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0058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2A"/>
                </a:solidFill>
              </a:rPr>
              <a:t>Якими способами можна ввести значення елементів списку з клавіатури?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92040" y="1348740"/>
            <a:ext cx="365760" cy="365760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3487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0058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2A"/>
                </a:solidFill>
              </a:rPr>
              <a:t>Якими способами можна вивести значення елементів списку?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555748"/>
            <a:ext cx="365760" cy="365760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5557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21284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2A"/>
                </a:solidFill>
              </a:rPr>
              <a:t>Яка функція визначає кількість елементів списку?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09160" y="2212848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2555748"/>
            <a:ext cx="365760" cy="365760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25557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221284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2A"/>
                </a:solidFill>
              </a:rPr>
              <a:t>Який метод додає до списку нові елементи?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419856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762756"/>
            <a:ext cx="365760" cy="365760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7627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419856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2A"/>
                </a:solidFill>
              </a:rPr>
              <a:t>Чим відрізняються print(a) і print(*a)?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09160" y="3419856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E3D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3762756"/>
            <a:ext cx="365760" cy="365760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92040" y="37627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3419856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2A"/>
                </a:solidFill>
              </a:rPr>
              <a:t>Для яких фінансових, екологічних, спортивних задач можна використати масиви?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Урок 15: підсумок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55" y="1196035"/>
            <a:ext cx="213970" cy="2139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0515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По одному: a = [] і a.append(x) у циклі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411480" cy="411480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" y="2064715"/>
            <a:ext cx="213970" cy="21397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9202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В одному рядку: list(map(float, input().split()))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57200" y="2834640"/>
            <a:ext cx="411480" cy="411480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" y="2933395"/>
            <a:ext cx="213970" cy="21397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7889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len(a) — кількість елементів; range(len(a)) — усі номери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457200" y="3703320"/>
            <a:ext cx="411480" cy="411480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55" y="3802075"/>
            <a:ext cx="213970" cy="21397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36576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print(a) — з дужками, print(*a) — через пропуск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4846320" y="1051560"/>
            <a:ext cx="3840480" cy="2331720"/>
          </a:xfrm>
          <a:prstGeom prst="roundRect">
            <a:avLst>
              <a:gd name="adj" fmla="val 3137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5029200" y="1188720"/>
            <a:ext cx="411480" cy="411480"/>
          </a:xfrm>
          <a:prstGeom prst="ellipse">
            <a:avLst/>
          </a:prstGeom>
          <a:solidFill>
            <a:srgbClr val="1F5C42"/>
          </a:solidFill>
          <a:ln w="12700">
            <a:solidFill>
              <a:srgbClr val="1F5C42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7955" y="1287475"/>
            <a:ext cx="213970" cy="21397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577840" y="1188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Домашнє завдання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5029200" y="173736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2A"/>
                </a:solidFill>
              </a:rPr>
              <a:t>Опрацювати п. 3.1 (с. 95–103)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2A"/>
                </a:solidFill>
              </a:rPr>
              <a:t>Виконати завдання 4 (с. 104): вклади 10 клієнтів зросли на 20 %; уведення по одному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846320" y="35661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E0A526"/>
          </a:solidFill>
          <a:ln w="9525">
            <a:solidFill>
              <a:srgbClr val="E0A526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4000"/>
              </a:srgbClr>
            </a:outerShdw>
          </a:effectLst>
        </p:spPr>
      </p:sp>
      <p:sp>
        <p:nvSpPr>
          <p:cNvPr id="21" name="Text 14"/>
          <p:cNvSpPr txBox="1"/>
          <p:nvPr/>
        </p:nvSpPr>
        <p:spPr>
          <a:xfrm>
            <a:off x="5029200" y="35661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2A"/>
                </a:solidFill>
              </a:rPr>
              <a:t>Наступні уроки (16–18)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</a:rPr>
              <a:t>Опрацювання списків. Практична робота № 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formatyka 9 - Rozdil 3">
  <a:themeElements>
    <a:clrScheme name="Informatyka 9 - Rozdil 3">
      <a:dk1>
        <a:srgbClr val="22302A"/>
      </a:dk1>
      <a:lt1>
        <a:srgbClr val="FFFFFF"/>
      </a:lt1>
      <a:dk2>
        <a:srgbClr val="173A2C"/>
      </a:dk2>
      <a:lt2>
        <a:srgbClr val="EAF4EE"/>
      </a:lt2>
      <a:accent1>
        <a:srgbClr val="2F7D5A"/>
      </a:accent1>
      <a:accent2>
        <a:srgbClr val="1F5C42"/>
      </a:accent2>
      <a:accent3>
        <a:srgbClr val="E0A526"/>
      </a:accent3>
      <a:accent4>
        <a:srgbClr val="C0392B"/>
      </a:accent4>
      <a:accent5>
        <a:srgbClr val="2F6690"/>
      </a:accent5>
      <a:accent6>
        <a:srgbClr val="6B7F75"/>
      </a:accent6>
      <a:hlink>
        <a:srgbClr val="2F6690"/>
      </a:hlink>
      <a:folHlink>
        <a:srgbClr val="6B4C8A"/>
      </a:folHlink>
    </a:clrScheme>
    <a:fontScheme name="Informatyka 9 - Rozdil 3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Уроки 14–15. Одновимірні масиви. Списки в Python, їх уведення та виведення</dc:title>
  <dc:subject>PptxGenJS Presentation</dc:subject>
  <dc:creator>Інформатика 9</dc:creator>
  <cp:lastModifiedBy>Інформатика 9</cp:lastModifiedBy>
  <cp:revision>1</cp:revision>
  <dcterms:created xsi:type="dcterms:W3CDTF">2026-10-19T15:33:02Z</dcterms:created>
  <dcterms:modified xsi:type="dcterms:W3CDTF">2026-10-19T15:33:02Z</dcterms:modified>
</cp:coreProperties>
</file>